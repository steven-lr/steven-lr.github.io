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80" r:id="rId9"/>
    <p:sldId id="278" r:id="rId10"/>
    <p:sldId id="267" r:id="rId11"/>
    <p:sldId id="268" r:id="rId12"/>
    <p:sldId id="274" r:id="rId13"/>
    <p:sldId id="275" r:id="rId14"/>
    <p:sldId id="269" r:id="rId15"/>
    <p:sldId id="270" r:id="rId16"/>
    <p:sldId id="271" r:id="rId17"/>
    <p:sldId id="272" r:id="rId18"/>
    <p:sldId id="276" r:id="rId19"/>
    <p:sldId id="264" r:id="rId20"/>
    <p:sldId id="265" r:id="rId21"/>
    <p:sldId id="281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9470B-481B-E67F-2D36-9D4572D33F1B}" v="757" dt="2024-09-11T16:20:44.844"/>
    <p1510:client id="{4F51618B-A053-7762-6A21-40D11C084184}" v="54" dt="2024-09-12T17:50:16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1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54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7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3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9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6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1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1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5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81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cdc.gov/chronic-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Project-OSRM/osrm-backen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wnload.geofabrik.d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riatelab/osr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youtu.be/NS_sSYTLx_E?si=QwrADHiQmmU3wIvQ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171828-588A-47D6-A2EB-80F1A1E50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2F991D5-67E9-4AB4-812B-D031F57AC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8228" y="-1"/>
            <a:ext cx="4343876" cy="1319545"/>
          </a:xfrm>
          <a:custGeom>
            <a:avLst/>
            <a:gdLst>
              <a:gd name="connsiteX0" fmla="*/ 0 w 4343876"/>
              <a:gd name="connsiteY0" fmla="*/ 0 h 1319545"/>
              <a:gd name="connsiteX1" fmla="*/ 998131 w 4343876"/>
              <a:gd name="connsiteY1" fmla="*/ 0 h 1319545"/>
              <a:gd name="connsiteX2" fmla="*/ 1019043 w 4343876"/>
              <a:gd name="connsiteY2" fmla="*/ 23009 h 1319545"/>
              <a:gd name="connsiteX3" fmla="*/ 2171937 w 4343876"/>
              <a:gd name="connsiteY3" fmla="*/ 500553 h 1319545"/>
              <a:gd name="connsiteX4" fmla="*/ 3324831 w 4343876"/>
              <a:gd name="connsiteY4" fmla="*/ 23009 h 1319545"/>
              <a:gd name="connsiteX5" fmla="*/ 3345743 w 4343876"/>
              <a:gd name="connsiteY5" fmla="*/ 0 h 1319545"/>
              <a:gd name="connsiteX6" fmla="*/ 4343876 w 4343876"/>
              <a:gd name="connsiteY6" fmla="*/ 0 h 1319545"/>
              <a:gd name="connsiteX7" fmla="*/ 4325735 w 4343876"/>
              <a:gd name="connsiteY7" fmla="*/ 37659 h 1319545"/>
              <a:gd name="connsiteX8" fmla="*/ 2171938 w 4343876"/>
              <a:gd name="connsiteY8" fmla="*/ 1319545 h 1319545"/>
              <a:gd name="connsiteX9" fmla="*/ 18141 w 4343876"/>
              <a:gd name="connsiteY9" fmla="*/ 37659 h 131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3876" h="1319545">
                <a:moveTo>
                  <a:pt x="0" y="0"/>
                </a:moveTo>
                <a:lnTo>
                  <a:pt x="998131" y="0"/>
                </a:lnTo>
                <a:lnTo>
                  <a:pt x="1019043" y="23009"/>
                </a:lnTo>
                <a:cubicBezTo>
                  <a:pt x="1314094" y="318060"/>
                  <a:pt x="1721704" y="500553"/>
                  <a:pt x="2171937" y="500553"/>
                </a:cubicBezTo>
                <a:cubicBezTo>
                  <a:pt x="2622170" y="500553"/>
                  <a:pt x="3029780" y="318060"/>
                  <a:pt x="3324831" y="23009"/>
                </a:cubicBezTo>
                <a:lnTo>
                  <a:pt x="3345743" y="0"/>
                </a:lnTo>
                <a:lnTo>
                  <a:pt x="4343876" y="0"/>
                </a:lnTo>
                <a:lnTo>
                  <a:pt x="4325735" y="37659"/>
                </a:lnTo>
                <a:cubicBezTo>
                  <a:pt x="3910950" y="801208"/>
                  <a:pt x="3101976" y="1319545"/>
                  <a:pt x="2171938" y="1319545"/>
                </a:cubicBezTo>
                <a:cubicBezTo>
                  <a:pt x="1241900" y="1319545"/>
                  <a:pt x="432926" y="801208"/>
                  <a:pt x="18141" y="37659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D6B74B-7A1B-4F67-B350-FF989FCE9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113576"/>
            <a:ext cx="2863499" cy="1744424"/>
          </a:xfrm>
          <a:custGeom>
            <a:avLst/>
            <a:gdLst>
              <a:gd name="connsiteX0" fmla="*/ 518179 w 2863499"/>
              <a:gd name="connsiteY0" fmla="*/ 0 h 1744424"/>
              <a:gd name="connsiteX1" fmla="*/ 2857488 w 2863499"/>
              <a:gd name="connsiteY1" fmla="*/ 1721045 h 1744424"/>
              <a:gd name="connsiteX2" fmla="*/ 2863499 w 2863499"/>
              <a:gd name="connsiteY2" fmla="*/ 1744424 h 1744424"/>
              <a:gd name="connsiteX3" fmla="*/ 1986591 w 2863499"/>
              <a:gd name="connsiteY3" fmla="*/ 1744424 h 1744424"/>
              <a:gd name="connsiteX4" fmla="*/ 1951831 w 2863499"/>
              <a:gd name="connsiteY4" fmla="*/ 1672267 h 1744424"/>
              <a:gd name="connsiteX5" fmla="*/ 518178 w 2863499"/>
              <a:gd name="connsiteY5" fmla="*/ 818992 h 1744424"/>
              <a:gd name="connsiteX6" fmla="*/ 33336 w 2863499"/>
              <a:gd name="connsiteY6" fmla="*/ 892293 h 1744424"/>
              <a:gd name="connsiteX7" fmla="*/ 0 w 2863499"/>
              <a:gd name="connsiteY7" fmla="*/ 904495 h 1744424"/>
              <a:gd name="connsiteX8" fmla="*/ 0 w 2863499"/>
              <a:gd name="connsiteY8" fmla="*/ 56072 h 1744424"/>
              <a:gd name="connsiteX9" fmla="*/ 24534 w 2863499"/>
              <a:gd name="connsiteY9" fmla="*/ 49764 h 1744424"/>
              <a:gd name="connsiteX10" fmla="*/ 518179 w 2863499"/>
              <a:gd name="connsiteY10" fmla="*/ 0 h 174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63499" h="1744424">
                <a:moveTo>
                  <a:pt x="518179" y="0"/>
                </a:moveTo>
                <a:cubicBezTo>
                  <a:pt x="1617315" y="0"/>
                  <a:pt x="2547362" y="723959"/>
                  <a:pt x="2857488" y="1721045"/>
                </a:cubicBezTo>
                <a:lnTo>
                  <a:pt x="2863499" y="1744424"/>
                </a:lnTo>
                <a:lnTo>
                  <a:pt x="1986591" y="1744424"/>
                </a:lnTo>
                <a:lnTo>
                  <a:pt x="1951831" y="1672267"/>
                </a:lnTo>
                <a:cubicBezTo>
                  <a:pt x="1675734" y="1164018"/>
                  <a:pt x="1137249" y="818992"/>
                  <a:pt x="518178" y="818992"/>
                </a:cubicBezTo>
                <a:cubicBezTo>
                  <a:pt x="349341" y="818992"/>
                  <a:pt x="186497" y="844655"/>
                  <a:pt x="33336" y="892293"/>
                </a:cubicBezTo>
                <a:lnTo>
                  <a:pt x="0" y="904495"/>
                </a:lnTo>
                <a:lnTo>
                  <a:pt x="0" y="56072"/>
                </a:lnTo>
                <a:lnTo>
                  <a:pt x="24534" y="49764"/>
                </a:lnTo>
                <a:cubicBezTo>
                  <a:pt x="183986" y="17135"/>
                  <a:pt x="349081" y="0"/>
                  <a:pt x="518179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3142" y="715279"/>
            <a:ext cx="10733204" cy="2799578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cs typeface="Posterama"/>
              </a:rPr>
              <a:t>An internal solution for calculating proximity-based metrics when using PPI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142" y="3528483"/>
            <a:ext cx="10733204" cy="1605533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Presenter:</a:t>
            </a:r>
          </a:p>
          <a:p>
            <a:pPr algn="l"/>
            <a:r>
              <a:rPr lang="en-US" dirty="0"/>
              <a:t>Steven Lawrence' MS</a:t>
            </a:r>
          </a:p>
          <a:p>
            <a:pPr algn="l"/>
            <a:r>
              <a:rPr lang="en-US" dirty="0"/>
              <a:t>PhD Student, NYU Grossman School of Medicine</a:t>
            </a:r>
          </a:p>
        </p:txBody>
      </p:sp>
      <p:pic>
        <p:nvPicPr>
          <p:cNvPr id="4" name="Picture 3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3F2339C2-B8F3-D2D2-819C-533F0C65B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1ED8-51B7-9AF0-8B99-6F9F7994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FA021-1A33-1734-03DA-621891AB1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Background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Objective</a:t>
            </a:r>
          </a:p>
          <a:p>
            <a:pPr>
              <a:buClr>
                <a:srgbClr val="FFFFFF"/>
              </a:buClr>
            </a:pPr>
            <a:r>
              <a:rPr lang="en-US" sz="2600"/>
              <a:t>What is OSRM?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Proximity calculating Protocol 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600" dirty="0"/>
              <a:t>Challenges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Future directions</a:t>
            </a:r>
          </a:p>
        </p:txBody>
      </p:sp>
      <p:pic>
        <p:nvPicPr>
          <p:cNvPr id="5" name="Picture 4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2AA3B157-6BE3-1BE8-2CE3-214DB370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8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2C81-CBC2-C953-6D18-6E512FAB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Chronic health conditions account for 90% of health care cost in the US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Effective management of chronic disease has been shown to bring down costs 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Better management has been linked to having access to pharmacy by improving one aspect of management, medication adherence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D03B7-4D35-0E42-02EF-6B7E2D30F088}"/>
              </a:ext>
            </a:extLst>
          </p:cNvPr>
          <p:cNvSpPr txBox="1"/>
          <p:nvPr/>
        </p:nvSpPr>
        <p:spPr>
          <a:xfrm>
            <a:off x="242535" y="5588918"/>
            <a:ext cx="11631749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dirty="0">
                <a:ea typeface="+mn-lt"/>
                <a:cs typeface="+mn-lt"/>
              </a:rPr>
              <a:t>National Center for Disease Chronic Disease Prevention and health Promotion. Chronic disease facts and statistics. </a:t>
            </a:r>
            <a:r>
              <a:rPr lang="en-US" sz="1050" dirty="0">
                <a:ea typeface="+mn-lt"/>
                <a:cs typeface="+mn-lt"/>
                <a:hlinkClick r:id="rId2"/>
              </a:rPr>
              <a:t>https://www.cdc.gov/chronic-</a:t>
            </a:r>
            <a:r>
              <a:rPr lang="en-US" sz="1050" dirty="0">
                <a:ea typeface="+mn-lt"/>
                <a:cs typeface="+mn-lt"/>
              </a:rPr>
              <a:t>14disease/data-research/facts-stats/?CDCAArefV al = https ://www.cdc.gov/chronicdisease/about/costs/index.htm, 2024. Accessed : 2024 − 08 − 28.</a:t>
            </a: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CA7D2-3EE7-35EE-FBAA-4038DF013710}"/>
              </a:ext>
            </a:extLst>
          </p:cNvPr>
          <p:cNvSpPr txBox="1"/>
          <p:nvPr/>
        </p:nvSpPr>
        <p:spPr>
          <a:xfrm>
            <a:off x="244122" y="6008511"/>
            <a:ext cx="1152031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err="1"/>
              <a:t>Osayi</a:t>
            </a:r>
            <a:r>
              <a:rPr lang="en-US" sz="1050" dirty="0"/>
              <a:t> E. </a:t>
            </a:r>
            <a:r>
              <a:rPr lang="en-US" sz="1050" err="1"/>
              <a:t>Akinbosoye</a:t>
            </a:r>
            <a:r>
              <a:rPr lang="en-US" sz="1050" dirty="0"/>
              <a:t>, Michael S. </a:t>
            </a:r>
            <a:r>
              <a:rPr lang="en-US" sz="1050" err="1"/>
              <a:t>Taitel</a:t>
            </a:r>
            <a:r>
              <a:rPr lang="en-US" sz="1050" dirty="0"/>
              <a:t>, James Grana, Jerrold Hill, and Rolin L. Wade. Improving medication adherence and health care outcomes in a commercial population through a community pharmacy. Population Health Management, 19:454–461, 12 2016.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87108-B55E-A848-0AD4-56D772E50714}"/>
              </a:ext>
            </a:extLst>
          </p:cNvPr>
          <p:cNvSpPr txBox="1"/>
          <p:nvPr/>
        </p:nvSpPr>
        <p:spPr>
          <a:xfrm>
            <a:off x="244123" y="6424789"/>
            <a:ext cx="1144975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dirty="0"/>
              <a:t>Philippe </a:t>
            </a:r>
            <a:r>
              <a:rPr lang="en-US" sz="1050" err="1"/>
              <a:t>Amstislavski</a:t>
            </a:r>
            <a:r>
              <a:rPr lang="en-US" sz="1050" dirty="0"/>
              <a:t>, Ariel Matthews, Sarah Sheffield, Andrew R. </a:t>
            </a:r>
            <a:r>
              <a:rPr lang="en-US" sz="1050" err="1"/>
              <a:t>Maroko</a:t>
            </a:r>
            <a:r>
              <a:rPr lang="en-US" sz="1050" dirty="0"/>
              <a:t>, and Jeremy Weedon. Medication deserts: survey of neighborhood disparities in availability of prescription medications. International Journal of Health Geographics, 11, 2012.</a:t>
            </a:r>
          </a:p>
        </p:txBody>
      </p:sp>
      <p:pic>
        <p:nvPicPr>
          <p:cNvPr id="8" name="Picture 7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8F5C04CA-8306-77FF-B8E4-156536C54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Background Continued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2C81-CBC2-C953-6D18-6E512FAB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r>
              <a:rPr lang="en-US" sz="2600" dirty="0"/>
              <a:t>Access is most popularly defined as accessibility (proximity) and availability (density)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Examples of proximity measures are travel time or distance between locations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An example of availability is the ratio of supply to demand</a:t>
            </a:r>
          </a:p>
          <a:p>
            <a:pPr marL="0" indent="0">
              <a:buClr>
                <a:srgbClr val="FFFFFF"/>
              </a:buClr>
              <a:buNone/>
            </a:pP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8B4ED-28B1-2848-8270-77B367235051}"/>
              </a:ext>
            </a:extLst>
          </p:cNvPr>
          <p:cNvSpPr txBox="1"/>
          <p:nvPr/>
        </p:nvSpPr>
        <p:spPr>
          <a:xfrm>
            <a:off x="258234" y="5959122"/>
            <a:ext cx="1168258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Brígida Dias Fernandes, Aline Aparecida </a:t>
            </a:r>
            <a:r>
              <a:rPr lang="en-US" sz="1100" err="1"/>
              <a:t>Foppa</a:t>
            </a:r>
            <a:r>
              <a:rPr lang="en-US" sz="1100" dirty="0"/>
              <a:t>, Paulo Henrique, Ribeiro Fernandes Almeida, Ali Lakhani, Tácio De, and Mendonça Lima. Application and utility of geographic information systems in pharmacy specific health research: A scoping review. Research in Social and Administrative Pharmacy, 18:3263–3271, 2022</a:t>
            </a:r>
          </a:p>
        </p:txBody>
      </p:sp>
      <p:pic>
        <p:nvPicPr>
          <p:cNvPr id="6" name="Picture 5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3A26F930-EDC0-AC96-DDB9-CA741FF8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0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E6E7-6A59-4D4B-9105-2BA2773A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E4869-F73A-98C2-CE7E-BA8D56683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Calculate proximity metrics between patient addresses and pharmacies within NYU's firewall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Use an open source software such as the open street routing machine (OSRM) for its compatibility with R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Utilize NYU's high performance computing (HPC) resource given the memory requirements of calculating routes through a road network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Remain HIPPA compliant when using patient protected information (PPI) such as a patient's address</a:t>
            </a:r>
          </a:p>
        </p:txBody>
      </p:sp>
      <p:pic>
        <p:nvPicPr>
          <p:cNvPr id="5" name="Picture 4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6771F460-34E6-7C31-7CAE-A1ABBBDE1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3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2C81-CBC2-C953-6D18-6E512FAB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Clr>
                <a:srgbClr val="FFFFFF"/>
              </a:buClr>
              <a:buNone/>
            </a:pPr>
            <a:r>
              <a:rPr lang="en-US" dirty="0"/>
              <a:t>Current methods for calculating proximity through a road network require cloud usage or proprietary software </a:t>
            </a:r>
          </a:p>
          <a:p>
            <a:pPr>
              <a:buClr>
                <a:srgbClr val="FFFFFF"/>
              </a:buClr>
            </a:pPr>
            <a:r>
              <a:rPr lang="en-US" dirty="0"/>
              <a:t>Using cloud service outside of the institutions firewall violates HIPPA regulations and using proprietary software can be limiting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/>
              <a:t>Alternative methods calculate proximity metrics that use PPI by </a:t>
            </a:r>
          </a:p>
          <a:p>
            <a:pPr marL="457200" indent="-457200"/>
            <a:r>
              <a:rPr lang="en-US" dirty="0"/>
              <a:t>Scattering coordinates</a:t>
            </a:r>
          </a:p>
          <a:p>
            <a:pPr marL="457200" indent="-457200">
              <a:buClr>
                <a:srgbClr val="FFFFFF"/>
              </a:buClr>
            </a:pPr>
            <a:r>
              <a:rPr lang="en-US" dirty="0"/>
              <a:t>Use a synthetic dataset of the region</a:t>
            </a:r>
          </a:p>
          <a:p>
            <a:pPr marL="457200" indent="-457200">
              <a:buClr>
                <a:srgbClr val="FFFFFF"/>
              </a:buClr>
            </a:pPr>
            <a:r>
              <a:rPr lang="en-US" dirty="0"/>
              <a:t>Use centroid as proxy for patient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E98E7-4CED-E481-4FE4-EF20A41E4661}"/>
              </a:ext>
            </a:extLst>
          </p:cNvPr>
          <p:cNvSpPr txBox="1"/>
          <p:nvPr/>
        </p:nvSpPr>
        <p:spPr>
          <a:xfrm>
            <a:off x="286114" y="6446543"/>
            <a:ext cx="1140742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 err="1">
                <a:solidFill>
                  <a:srgbClr val="222222"/>
                </a:solidFill>
                <a:latin typeface="Arial"/>
                <a:cs typeface="Arial"/>
              </a:rPr>
              <a:t>Berenbrok</a:t>
            </a:r>
            <a:r>
              <a:rPr lang="en-US" sz="1000" dirty="0">
                <a:solidFill>
                  <a:srgbClr val="222222"/>
                </a:solidFill>
                <a:latin typeface="Arial"/>
                <a:cs typeface="Arial"/>
              </a:rPr>
              <a:t>, L. A., Tang, S., Gabriel, N., Guo, J., Sharareh, N., Patel, N., ... &amp; Hernandez, I. (2022). Access to community pharmacies: A nationwide geographic information systems cross-sectional analysis. </a:t>
            </a:r>
            <a:r>
              <a:rPr lang="en-US" sz="1000" i="1" dirty="0">
                <a:solidFill>
                  <a:srgbClr val="222222"/>
                </a:solidFill>
                <a:latin typeface="Arial"/>
                <a:cs typeface="Arial"/>
              </a:rPr>
              <a:t>Journal of the American Pharmacists Association</a:t>
            </a:r>
            <a:r>
              <a:rPr lang="en-US" sz="1000" dirty="0">
                <a:solidFill>
                  <a:srgbClr val="222222"/>
                </a:solidFill>
                <a:latin typeface="Arial"/>
                <a:cs typeface="Arial"/>
              </a:rPr>
              <a:t>, </a:t>
            </a:r>
            <a:r>
              <a:rPr lang="en-US" sz="1000" i="1" dirty="0">
                <a:solidFill>
                  <a:srgbClr val="222222"/>
                </a:solidFill>
                <a:latin typeface="Arial"/>
                <a:cs typeface="Arial"/>
              </a:rPr>
              <a:t>62</a:t>
            </a:r>
            <a:r>
              <a:rPr lang="en-US" sz="1000" dirty="0">
                <a:solidFill>
                  <a:srgbClr val="222222"/>
                </a:solidFill>
                <a:latin typeface="Arial"/>
                <a:cs typeface="Arial"/>
              </a:rPr>
              <a:t>(6), 1816-1822.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34789-33A5-3E33-1341-8F20DCB3A5DE}"/>
              </a:ext>
            </a:extLst>
          </p:cNvPr>
          <p:cNvSpPr txBox="1"/>
          <p:nvPr/>
        </p:nvSpPr>
        <p:spPr>
          <a:xfrm>
            <a:off x="265289" y="6029678"/>
            <a:ext cx="119295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Arial"/>
                <a:cs typeface="Arial"/>
              </a:rPr>
              <a:t>Kahn, R. M., Ma, X., Gordhandas, S., Yeoshoua, E., Ellis, R. J., Zhang, X., ... &amp; Chi, D. S. (2024). Regionalizing ovarian cancer cytoreduction to high-volume centers and the impact on patient travel in New York State. </a:t>
            </a:r>
            <a:r>
              <a:rPr lang="en-US" sz="1200" i="1">
                <a:solidFill>
                  <a:srgbClr val="222222"/>
                </a:solidFill>
                <a:latin typeface="Arial"/>
                <a:cs typeface="Arial"/>
              </a:rPr>
              <a:t>Gynecologic Oncology</a:t>
            </a:r>
            <a:r>
              <a:rPr lang="en-US" sz="1200">
                <a:solidFill>
                  <a:srgbClr val="222222"/>
                </a:solidFill>
                <a:latin typeface="Arial"/>
                <a:cs typeface="Arial"/>
              </a:rPr>
              <a:t>, </a:t>
            </a:r>
            <a:r>
              <a:rPr lang="en-US" sz="1200" i="1">
                <a:solidFill>
                  <a:srgbClr val="222222"/>
                </a:solidFill>
                <a:latin typeface="Arial"/>
                <a:cs typeface="Arial"/>
              </a:rPr>
              <a:t>182</a:t>
            </a:r>
            <a:r>
              <a:rPr lang="en-US" sz="1200">
                <a:solidFill>
                  <a:srgbClr val="222222"/>
                </a:solidFill>
                <a:latin typeface="Arial"/>
                <a:cs typeface="Arial"/>
              </a:rPr>
              <a:t>, 141-147.</a:t>
            </a:r>
            <a:endParaRPr lang="en-US" sz="1200"/>
          </a:p>
        </p:txBody>
      </p:sp>
      <p:pic>
        <p:nvPicPr>
          <p:cNvPr id="7" name="Picture 6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9D15A2A7-0CD2-6EBB-65BC-BD7E0024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E412-E87B-4A6C-A190-51A5DED2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Open Street Routing Machine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7F19-5A19-6949-EB33-50F5DCDE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Clr>
                <a:srgbClr val="FFFFFF"/>
              </a:buClr>
            </a:pPr>
            <a:r>
              <a:rPr lang="en-US" dirty="0"/>
              <a:t>An open street routing machine (OSRM) calculates proximity between locations using nodes in an open street map</a:t>
            </a:r>
          </a:p>
          <a:p>
            <a:pPr marL="457200" indent="-457200">
              <a:buClr>
                <a:srgbClr val="FFFFFF"/>
              </a:buClr>
            </a:pPr>
            <a:r>
              <a:rPr lang="en-US" dirty="0"/>
              <a:t>Nodes contain information street attributes such as </a:t>
            </a:r>
          </a:p>
          <a:p>
            <a:pPr marL="6858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legal speed, </a:t>
            </a:r>
          </a:p>
          <a:p>
            <a:pPr marL="6858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what types of turns are allowed, </a:t>
            </a:r>
          </a:p>
          <a:p>
            <a:pPr marL="6858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is this street a one way etc. 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Project OSRM can be accessed via the cloud service platform (</a:t>
            </a:r>
            <a:r>
              <a:rPr lang="en-US" sz="2600" dirty="0">
                <a:solidFill>
                  <a:srgbClr val="000000"/>
                </a:solidFill>
                <a:hlinkClick r:id="rId2"/>
              </a:rPr>
              <a:t>link</a:t>
            </a:r>
            <a:r>
              <a:rPr lang="en-US" sz="2600" dirty="0"/>
              <a:t>) to calculate proximity metrics for driving, foot, and bicycle profiles</a:t>
            </a:r>
            <a:endParaRPr lang="en-US" sz="2600" dirty="0">
              <a:solidFill>
                <a:srgbClr val="000000"/>
              </a:solidFill>
            </a:endParaRPr>
          </a:p>
          <a:p>
            <a:pPr marL="457200" lvl="4">
              <a:buClr>
                <a:srgbClr val="FFFFFF"/>
              </a:buClr>
              <a:buFont typeface="Courier New,monospace" panose="020B0604020202020204" pitchFamily="34" charset="0"/>
              <a:buChar char="o"/>
            </a:pPr>
            <a:r>
              <a:rPr lang="en-US" dirty="0"/>
              <a:t>Route </a:t>
            </a:r>
            <a:endParaRPr lang="en-US">
              <a:solidFill>
                <a:srgbClr val="000000"/>
              </a:solidFill>
            </a:endParaRPr>
          </a:p>
          <a:p>
            <a:pPr marL="457200" lvl="4">
              <a:buClr>
                <a:srgbClr val="FFFFFF"/>
              </a:buClr>
              <a:buFont typeface="Courier New,monospace" panose="020B0604020202020204" pitchFamily="34" charset="0"/>
              <a:buChar char="o"/>
            </a:pPr>
            <a:r>
              <a:rPr lang="en-US" dirty="0"/>
              <a:t>Table</a:t>
            </a:r>
            <a:endParaRPr lang="en-US">
              <a:solidFill>
                <a:srgbClr val="000000"/>
              </a:solidFill>
            </a:endParaRPr>
          </a:p>
          <a:p>
            <a:pPr marL="457200" lvl="4">
              <a:buClr>
                <a:srgbClr val="FFFFFF"/>
              </a:buClr>
              <a:buFont typeface="Courier New,monospace" panose="020B0604020202020204" pitchFamily="34" charset="0"/>
              <a:buChar char="o"/>
            </a:pPr>
            <a:r>
              <a:rPr lang="en-US" dirty="0"/>
              <a:t>Nearest</a:t>
            </a:r>
            <a:endParaRPr lang="en-US">
              <a:solidFill>
                <a:srgbClr val="000000"/>
              </a:solidFill>
            </a:endParaRPr>
          </a:p>
          <a:p>
            <a:pPr marL="457200" lvl="4">
              <a:buClr>
                <a:srgbClr val="FFFFFF"/>
              </a:buClr>
              <a:buFont typeface="Courier New,monospace" panose="020B0604020202020204" pitchFamily="34" charset="0"/>
              <a:buChar char="o"/>
            </a:pPr>
            <a:r>
              <a:rPr lang="en-US" dirty="0"/>
              <a:t>Trip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BCDC34D4-ED68-C90F-F599-7FDC016D2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9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07DA-5C8E-EA46-0556-90FCC5E4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OSRM service and R package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8F5C-DB6D-618F-D934-ED5E560CF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r>
              <a:rPr lang="en-US" sz="2600" dirty="0"/>
              <a:t>Project OSRM allows backend and frontend image to be used locally</a:t>
            </a:r>
            <a:endParaRPr lang="en-US" sz="2600">
              <a:solidFill>
                <a:srgbClr val="000000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2600" dirty="0"/>
              <a:t>Open Street Map extracts can be downloaded (</a:t>
            </a:r>
            <a:r>
              <a:rPr lang="en-US" sz="2600" dirty="0">
                <a:hlinkClick r:id="rId2"/>
              </a:rPr>
              <a:t>here</a:t>
            </a:r>
            <a:r>
              <a:rPr lang="en-US" sz="2600" dirty="0"/>
              <a:t>)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NYU uses singularity containers which required building the </a:t>
            </a:r>
            <a:r>
              <a:rPr lang="en-US" sz="2600" err="1"/>
              <a:t>osrm</a:t>
            </a:r>
            <a:r>
              <a:rPr lang="en-US" sz="2600" dirty="0"/>
              <a:t> backend from scratch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Map file is extracted, partitioned, and customized to work with the routing machine housed in a container </a:t>
            </a:r>
          </a:p>
          <a:p>
            <a:pPr>
              <a:buClr>
                <a:srgbClr val="FFFFFF"/>
              </a:buClr>
            </a:pP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AC81B-7BCD-6101-2617-5550429CA634}"/>
              </a:ext>
            </a:extLst>
          </p:cNvPr>
          <p:cNvSpPr/>
          <p:nvPr/>
        </p:nvSpPr>
        <p:spPr>
          <a:xfrm>
            <a:off x="1206230" y="5938766"/>
            <a:ext cx="2637250" cy="744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 routing 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E81A2-45B5-1C0B-C504-DE2912E71D36}"/>
              </a:ext>
            </a:extLst>
          </p:cNvPr>
          <p:cNvSpPr/>
          <p:nvPr/>
        </p:nvSpPr>
        <p:spPr>
          <a:xfrm>
            <a:off x="4748119" y="5938766"/>
            <a:ext cx="2637250" cy="744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Make http requests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44BAE5-08EB-F376-D4C0-67F58FD8AB29}"/>
              </a:ext>
            </a:extLst>
          </p:cNvPr>
          <p:cNvSpPr/>
          <p:nvPr/>
        </p:nvSpPr>
        <p:spPr>
          <a:xfrm>
            <a:off x="8290007" y="5938766"/>
            <a:ext cx="2637250" cy="744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Store routes in a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8" name="Picture 7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D1D27DA3-3923-3C01-F39F-7F7299FB2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2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5" name="Right Triangle 54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E807DA-5C8E-EA46-0556-90FCC5E4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en-US" dirty="0">
                <a:cs typeface="Posterama"/>
              </a:rPr>
              <a:t>OSRM R package (there is support)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8F5C-DB6D-618F-D934-ED5E560CF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Riatelab has developed R functions that utilize the osrm service (</a:t>
            </a:r>
            <a:r>
              <a:rPr lang="en-US" sz="1800">
                <a:hlinkClick r:id="rId2"/>
              </a:rPr>
              <a:t>link</a:t>
            </a:r>
            <a:r>
              <a:rPr lang="en-US" sz="1800"/>
              <a:t>)</a:t>
            </a:r>
          </a:p>
          <a:p>
            <a:pPr>
              <a:buClr>
                <a:srgbClr val="FFFFFF"/>
              </a:buClr>
            </a:pPr>
            <a:r>
              <a:rPr lang="en-US" sz="1800"/>
              <a:t>When utilizing the functions, the local container hosting the routing machine is accessed using http requests</a:t>
            </a:r>
          </a:p>
          <a:p>
            <a:pPr>
              <a:buClr>
                <a:srgbClr val="FFFFFF"/>
              </a:buClr>
            </a:pPr>
            <a:r>
              <a:rPr lang="en-US" sz="1800"/>
              <a:t>Customize functions are also able to be created to utilize the osrm service very quickly </a:t>
            </a:r>
          </a:p>
        </p:txBody>
      </p:sp>
      <p:sp>
        <p:nvSpPr>
          <p:cNvPr id="88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838429C-B6E9-D490-E3A9-811E4FE4A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767" y="1141828"/>
            <a:ext cx="6795701" cy="4723012"/>
          </a:xfrm>
          <a:prstGeom prst="rect">
            <a:avLst/>
          </a:prstGeom>
        </p:spPr>
      </p:pic>
      <p:pic>
        <p:nvPicPr>
          <p:cNvPr id="6" name="Picture 5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4C136123-69C1-B03F-0FDA-AB28144B0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28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Proximity Calculation Protocol </a:t>
            </a:r>
            <a:br>
              <a:rPr lang="en-US" dirty="0">
                <a:cs typeface="Posterama"/>
              </a:rPr>
            </a:br>
            <a:r>
              <a:rPr lang="en-US">
                <a:cs typeface="Posterama"/>
              </a:rPr>
              <a:t>when using HPC</a:t>
            </a:r>
            <a:endParaRPr lang="en-US" sz="1400" dirty="0">
              <a:cs typeface="Posteram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2C81-CBC2-C953-6D18-6E512FAB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7399766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Clr>
                <a:srgbClr val="FFFFFF"/>
              </a:buClr>
            </a:pPr>
            <a:r>
              <a:rPr lang="en-US" dirty="0"/>
              <a:t>Load data and code into working directory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Using secure copy protocol (SCP) </a:t>
            </a:r>
          </a:p>
          <a:p>
            <a:pPr>
              <a:buClr>
                <a:srgbClr val="FFFFFF"/>
              </a:buClr>
            </a:pPr>
            <a:r>
              <a:rPr lang="en-US" dirty="0"/>
              <a:t>Customize job specifications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Resources needed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Modules used (R, singularity) </a:t>
            </a:r>
          </a:p>
          <a:p>
            <a:pPr>
              <a:buClr>
                <a:srgbClr val="FFFFFF"/>
              </a:buClr>
            </a:pPr>
            <a:r>
              <a:rPr lang="en-US" dirty="0"/>
              <a:t>Determines arguments to pass from </a:t>
            </a:r>
            <a:r>
              <a:rPr lang="en-US" dirty="0" err="1"/>
              <a:t>slurm</a:t>
            </a:r>
            <a:r>
              <a:rPr lang="en-US" dirty="0"/>
              <a:t> environment to R code 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File paths and coordinate column names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Ports for singularity container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Destinations of where output should be stored</a:t>
            </a:r>
          </a:p>
          <a:p>
            <a:pPr>
              <a:buClr>
                <a:srgbClr val="FFFFFF"/>
              </a:buClr>
            </a:pP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F70C4-BBA1-BB86-B70C-0D7CCDFD72B6}"/>
              </a:ext>
            </a:extLst>
          </p:cNvPr>
          <p:cNvSpPr/>
          <p:nvPr/>
        </p:nvSpPr>
        <p:spPr>
          <a:xfrm>
            <a:off x="8917952" y="1839488"/>
            <a:ext cx="2637250" cy="744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Set up job using </a:t>
            </a:r>
            <a:r>
              <a:rPr lang="en-US" dirty="0" err="1"/>
              <a:t>slurm</a:t>
            </a:r>
            <a:r>
              <a:rPr lang="en-US" dirty="0"/>
              <a:t>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72EE3-AC66-F7AD-A386-DCF3E8BCB455}"/>
              </a:ext>
            </a:extLst>
          </p:cNvPr>
          <p:cNvSpPr/>
          <p:nvPr/>
        </p:nvSpPr>
        <p:spPr>
          <a:xfrm>
            <a:off x="8917952" y="3426988"/>
            <a:ext cx="2637250" cy="744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Allow the R code to wait until the route engine is running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E4D2C2-7DAB-5C3B-97F5-740894FB43FB}"/>
              </a:ext>
            </a:extLst>
          </p:cNvPr>
          <p:cNvSpPr/>
          <p:nvPr/>
        </p:nvSpPr>
        <p:spPr>
          <a:xfrm>
            <a:off x="8917952" y="5063877"/>
            <a:ext cx="2637250" cy="744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Store routes in a </a:t>
            </a:r>
            <a:r>
              <a:rPr lang="en-US" dirty="0" err="1"/>
              <a:t>dataframe</a:t>
            </a:r>
            <a:r>
              <a:rPr lang="en-US" dirty="0"/>
              <a:t> and extract the proximity metrics</a:t>
            </a:r>
          </a:p>
        </p:txBody>
      </p:sp>
      <p:pic>
        <p:nvPicPr>
          <p:cNvPr id="8" name="Picture 7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E55CC695-AB61-FE24-1B99-640551412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7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Posterama"/>
              </a:rPr>
              <a:t>Slurm</a:t>
            </a:r>
            <a:r>
              <a:rPr lang="en-US" dirty="0">
                <a:cs typeface="Posterama"/>
              </a:rPr>
              <a:t> Code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C873DD3-1C9F-15C7-409C-2B60A7A7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44" y="1583618"/>
            <a:ext cx="11253610" cy="49541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1BA65C-D411-EF21-66E1-BCD160CF114A}"/>
              </a:ext>
            </a:extLst>
          </p:cNvPr>
          <p:cNvSpPr/>
          <p:nvPr/>
        </p:nvSpPr>
        <p:spPr>
          <a:xfrm>
            <a:off x="2912272" y="1681082"/>
            <a:ext cx="124216" cy="211541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3C799-63F1-7AC0-D8BA-DBF945B2C919}"/>
              </a:ext>
            </a:extLst>
          </p:cNvPr>
          <p:cNvSpPr txBox="1"/>
          <p:nvPr/>
        </p:nvSpPr>
        <p:spPr>
          <a:xfrm>
            <a:off x="3338015" y="255552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Job specifications</a:t>
            </a:r>
          </a:p>
        </p:txBody>
      </p:sp>
      <p:pic>
        <p:nvPicPr>
          <p:cNvPr id="7" name="Picture 6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155DDE17-2552-3D0E-2835-EAEC1A98A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BCCBC4-481E-4182-93CA-9A0B0E5058A4}"/>
              </a:ext>
            </a:extLst>
          </p:cNvPr>
          <p:cNvSpPr/>
          <p:nvPr/>
        </p:nvSpPr>
        <p:spPr>
          <a:xfrm>
            <a:off x="1008360" y="4266141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Patient_locations.csv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70BB7D-6584-7D1B-EFEE-1D35C7026F34}"/>
              </a:ext>
            </a:extLst>
          </p:cNvPr>
          <p:cNvSpPr/>
          <p:nvPr/>
        </p:nvSpPr>
        <p:spPr>
          <a:xfrm>
            <a:off x="1008360" y="4435474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/>
              <a:t>pharmacy_locations.csv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4EF260-CFF3-537D-760B-8C2C3870EB60}"/>
              </a:ext>
            </a:extLst>
          </p:cNvPr>
          <p:cNvSpPr/>
          <p:nvPr/>
        </p:nvSpPr>
        <p:spPr>
          <a:xfrm>
            <a:off x="1438749" y="5289196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/>
              <a:t>Patient_to_pharmacy_proximity.csv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20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Posterama"/>
              </a:rPr>
              <a:t>Slurm</a:t>
            </a:r>
            <a:r>
              <a:rPr lang="en-US" dirty="0">
                <a:cs typeface="Posterama"/>
              </a:rPr>
              <a:t> Code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C873DD3-1C9F-15C7-409C-2B60A7A7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44" y="1583618"/>
            <a:ext cx="11253610" cy="49541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1BA65C-D411-EF21-66E1-BCD160CF114A}"/>
              </a:ext>
            </a:extLst>
          </p:cNvPr>
          <p:cNvSpPr/>
          <p:nvPr/>
        </p:nvSpPr>
        <p:spPr>
          <a:xfrm>
            <a:off x="4600364" y="3785653"/>
            <a:ext cx="124216" cy="211541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3C799-63F1-7AC0-D8BA-DBF945B2C919}"/>
              </a:ext>
            </a:extLst>
          </p:cNvPr>
          <p:cNvSpPr txBox="1"/>
          <p:nvPr/>
        </p:nvSpPr>
        <p:spPr>
          <a:xfrm>
            <a:off x="5073682" y="465102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Arguments to pass on</a:t>
            </a:r>
          </a:p>
        </p:txBody>
      </p:sp>
      <p:pic>
        <p:nvPicPr>
          <p:cNvPr id="7" name="Picture 6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E4FE3DE6-CB77-F3FA-284A-65B65B8B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2F2F3A-B65C-76F0-0F00-A3149763D7C2}"/>
              </a:ext>
            </a:extLst>
          </p:cNvPr>
          <p:cNvSpPr/>
          <p:nvPr/>
        </p:nvSpPr>
        <p:spPr>
          <a:xfrm>
            <a:off x="1008360" y="4266141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Patient_locations.csv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25B652-88CB-6C20-B833-F57E1BF497B4}"/>
              </a:ext>
            </a:extLst>
          </p:cNvPr>
          <p:cNvSpPr/>
          <p:nvPr/>
        </p:nvSpPr>
        <p:spPr>
          <a:xfrm>
            <a:off x="1008360" y="4435474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/>
              <a:t>pharmacy_locations.csv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9E9A2-1963-26F7-0DCA-D10BF808365F}"/>
              </a:ext>
            </a:extLst>
          </p:cNvPr>
          <p:cNvSpPr/>
          <p:nvPr/>
        </p:nvSpPr>
        <p:spPr>
          <a:xfrm>
            <a:off x="1438749" y="5289196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/>
              <a:t>Patient_to_pharmacy_proximity.csv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67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Posterama"/>
              </a:rPr>
              <a:t>Slurm</a:t>
            </a:r>
            <a:r>
              <a:rPr lang="en-US" dirty="0">
                <a:cs typeface="Posterama"/>
              </a:rPr>
              <a:t> Code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C873DD3-1C9F-15C7-409C-2B60A7A7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44" y="1583618"/>
            <a:ext cx="11253610" cy="49541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1BA65C-D411-EF21-66E1-BCD160CF114A}"/>
              </a:ext>
            </a:extLst>
          </p:cNvPr>
          <p:cNvSpPr/>
          <p:nvPr/>
        </p:nvSpPr>
        <p:spPr>
          <a:xfrm>
            <a:off x="324698" y="5817652"/>
            <a:ext cx="11603603" cy="8947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262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3C799-63F1-7AC0-D8BA-DBF945B2C919}"/>
              </a:ext>
            </a:extLst>
          </p:cNvPr>
          <p:cNvSpPr txBox="1"/>
          <p:nvPr/>
        </p:nvSpPr>
        <p:spPr>
          <a:xfrm>
            <a:off x="5094848" y="5243689"/>
            <a:ext cx="58476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B2626"/>
                </a:solidFill>
              </a:rPr>
              <a:t>R code and singularity container specifications</a:t>
            </a:r>
          </a:p>
        </p:txBody>
      </p:sp>
      <p:pic>
        <p:nvPicPr>
          <p:cNvPr id="7" name="Picture 6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BCBC2462-5739-A984-C874-F4ED475CF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A51BF2-CE68-F674-C97A-43E6D844DB12}"/>
              </a:ext>
            </a:extLst>
          </p:cNvPr>
          <p:cNvSpPr/>
          <p:nvPr/>
        </p:nvSpPr>
        <p:spPr>
          <a:xfrm>
            <a:off x="1008360" y="4266141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Patient_locations.csv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97EF92-13CF-2C0E-7BF6-2C809D19899B}"/>
              </a:ext>
            </a:extLst>
          </p:cNvPr>
          <p:cNvSpPr/>
          <p:nvPr/>
        </p:nvSpPr>
        <p:spPr>
          <a:xfrm>
            <a:off x="1008360" y="4435474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/>
              <a:t>pharmacy_locations.csv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C97DE5-2807-1129-02F4-B1C7DFE255A6}"/>
              </a:ext>
            </a:extLst>
          </p:cNvPr>
          <p:cNvSpPr/>
          <p:nvPr/>
        </p:nvSpPr>
        <p:spPr>
          <a:xfrm>
            <a:off x="1438749" y="5289196"/>
            <a:ext cx="3072609" cy="169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/>
              <a:t>Patient_to_pharmacy_proximity.csv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18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R code</a:t>
            </a:r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EF57043-67B8-DDB2-98EE-666A3BE7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382" r="194" b="-134"/>
          <a:stretch/>
        </p:blipFill>
        <p:spPr>
          <a:xfrm>
            <a:off x="315194" y="1976970"/>
            <a:ext cx="7249405" cy="3299382"/>
          </a:xfrm>
          <a:prstGeom prst="rect">
            <a:avLst/>
          </a:prstGeo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0E8EAA7-CBF7-FA46-EC0B-4B271CF74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7" b="89933"/>
          <a:stretch/>
        </p:blipFill>
        <p:spPr>
          <a:xfrm>
            <a:off x="308138" y="1449410"/>
            <a:ext cx="7256457" cy="5293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FB0382-4119-607E-FEC6-005A76FE905D}"/>
              </a:ext>
            </a:extLst>
          </p:cNvPr>
          <p:cNvSpPr/>
          <p:nvPr/>
        </p:nvSpPr>
        <p:spPr>
          <a:xfrm>
            <a:off x="3266864" y="1993542"/>
            <a:ext cx="124216" cy="211541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DB988-B2FF-B8A7-DB8E-74728A9F9CB5}"/>
              </a:ext>
            </a:extLst>
          </p:cNvPr>
          <p:cNvSpPr txBox="1"/>
          <p:nvPr/>
        </p:nvSpPr>
        <p:spPr>
          <a:xfrm>
            <a:off x="3740182" y="2858911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49000"/>
                    <a:lumOff val="51000"/>
                  </a:schemeClr>
                </a:solidFill>
              </a:rPr>
              <a:t>Arguments to passed on</a:t>
            </a:r>
          </a:p>
        </p:txBody>
      </p:sp>
      <p:pic>
        <p:nvPicPr>
          <p:cNvPr id="4" name="Picture 3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2E9B0648-4728-7511-F1D5-FDE93DBEA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20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R code – user defined functions</a:t>
            </a:r>
            <a:endParaRPr lang="en-US" dirty="0"/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64315C61-EC15-29D4-E595-CE1ED96B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" y="1490091"/>
            <a:ext cx="6036289" cy="5370285"/>
          </a:xfrm>
          <a:prstGeom prst="rect">
            <a:avLst/>
          </a:prstGeom>
        </p:spPr>
      </p:pic>
      <p:pic>
        <p:nvPicPr>
          <p:cNvPr id="4" name="Picture 3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36871AC9-1B82-914D-C6F4-86361B1F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R code – user defined functions</a:t>
            </a:r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1500E18-7038-CBFE-26C1-DCCDEE9CF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0" y="1372955"/>
            <a:ext cx="5397484" cy="5442857"/>
          </a:xfrm>
          <a:prstGeom prst="rect">
            <a:avLst/>
          </a:prstGeom>
        </p:spPr>
      </p:pic>
      <p:pic>
        <p:nvPicPr>
          <p:cNvPr id="4" name="Picture 3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76FC5270-F5AB-5E88-838E-0BCE363B2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28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R Code – user defined functions</a:t>
            </a:r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9C074A8-6A7C-4630-A326-0914B880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78" y="1373069"/>
            <a:ext cx="6724775" cy="5486400"/>
          </a:xfrm>
          <a:prstGeom prst="rect">
            <a:avLst/>
          </a:prstGeom>
        </p:spPr>
      </p:pic>
      <p:pic>
        <p:nvPicPr>
          <p:cNvPr id="4" name="Picture 3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0FBBAE83-4728-DE8E-09B8-97FD5035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26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ED1-B463-5759-485A-4E2CBC59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R Code – user defined functions</a:t>
            </a:r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9C074A8-6A7C-4630-A326-0914B880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78" y="1373069"/>
            <a:ext cx="6724775" cy="5486400"/>
          </a:xfrm>
          <a:prstGeom prst="rect">
            <a:avLst/>
          </a:prstGeom>
        </p:spPr>
      </p:pic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914C6A9-DA1C-88DE-8983-EBCFF70A5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27" y="2317814"/>
            <a:ext cx="11219542" cy="2592250"/>
          </a:xfrm>
          <a:prstGeom prst="rect">
            <a:avLst/>
          </a:prstGeom>
        </p:spPr>
      </p:pic>
      <p:pic>
        <p:nvPicPr>
          <p:cNvPr id="6" name="Picture 5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01AB12E6-FDC0-2FCD-C56E-32704AE57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35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93A5-704C-5280-12AF-D1DD4600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Computation challenges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A276-5A26-4C2E-07B6-B176272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Calculating proximity between two sets of locations will result in n by m number of calculations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Current OSRM threading only allows for 4 route calculations at a single time</a:t>
            </a:r>
          </a:p>
          <a:p>
            <a:pPr marL="457200" lvl="4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en-US" dirty="0"/>
              <a:t> more compute will not speed up the process</a:t>
            </a:r>
          </a:p>
        </p:txBody>
      </p:sp>
      <p:pic>
        <p:nvPicPr>
          <p:cNvPr id="5" name="Picture 4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8480AC87-1D66-F7C0-D7FC-9835EE1E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23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D5ED-2A65-5C78-7175-78C7A56F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Future directions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CBBC7-D96F-A2AB-AADC-C6663A650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r>
              <a:rPr lang="en-US" sz="2600" dirty="0"/>
              <a:t>Test singularity container built to run </a:t>
            </a:r>
            <a:r>
              <a:rPr lang="en-US" sz="2600" err="1"/>
              <a:t>osrm</a:t>
            </a:r>
            <a:r>
              <a:rPr lang="en-US" sz="2600" dirty="0"/>
              <a:t> r package to use isochrone/</a:t>
            </a:r>
            <a:r>
              <a:rPr lang="en-US" sz="2600" err="1"/>
              <a:t>isodistance</a:t>
            </a:r>
            <a:r>
              <a:rPr lang="en-US" sz="2600" dirty="0"/>
              <a:t> functions to reduce calculation time 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sz="2600" dirty="0"/>
              <a:t>Write </a:t>
            </a:r>
            <a:r>
              <a:rPr lang="en-US" sz="2600" err="1"/>
              <a:t>slurm</a:t>
            </a:r>
            <a:r>
              <a:rPr lang="en-US" sz="2600" dirty="0"/>
              <a:t> code that will spin up multiple singularity containers to utilize more compute capacity in a single job (</a:t>
            </a:r>
            <a:r>
              <a:rPr lang="en-US" sz="2600" dirty="0">
                <a:hlinkClick r:id="rId2"/>
              </a:rPr>
              <a:t>link</a:t>
            </a:r>
            <a:r>
              <a:rPr lang="en-US" sz="2600" dirty="0"/>
              <a:t>)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Make a copy of the OSRM singularity container widely available included the extracted map files</a:t>
            </a:r>
            <a:endParaRPr lang="en-US" sz="2600" dirty="0">
              <a:solidFill>
                <a:srgbClr val="000000"/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2600" dirty="0"/>
              <a:t>Add an Open Trip Planner container to work flow</a:t>
            </a:r>
          </a:p>
          <a:p>
            <a:pPr>
              <a:buClr>
                <a:srgbClr val="FFFFFF"/>
              </a:buClr>
            </a:pPr>
            <a:endParaRPr lang="en-US" sz="2600" dirty="0"/>
          </a:p>
        </p:txBody>
      </p:sp>
      <p:pic>
        <p:nvPicPr>
          <p:cNvPr id="5" name="Picture 4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74A199FF-D6E0-6072-2117-B5BFDA873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7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A1FC-B083-D3B0-814D-57824097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Acknowledgements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BDB19-4EC1-D6BE-C6FE-4D778D31C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 err="1"/>
              <a:t>Samrachana</a:t>
            </a:r>
            <a:r>
              <a:rPr lang="en-US" dirty="0"/>
              <a:t> Adhikari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Saul B Blecker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Amrita </a:t>
            </a:r>
            <a:r>
              <a:rPr lang="en-US" dirty="0" err="1">
                <a:ea typeface="+mn-lt"/>
                <a:cs typeface="+mn-lt"/>
              </a:rPr>
              <a:t>Mukhyopadhyay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Rumi </a:t>
            </a:r>
            <a:r>
              <a:rPr lang="en-US" dirty="0" err="1">
                <a:ea typeface="+mn-lt"/>
                <a:cs typeface="+mn-lt"/>
              </a:rPr>
              <a:t>Chunara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Cassidy Fitchett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Andrew Fair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/>
              <a:t>Kevin Yie</a:t>
            </a:r>
          </a:p>
          <a:p>
            <a:pPr>
              <a:buClr>
                <a:srgbClr val="FFFFFF"/>
              </a:buClr>
            </a:pPr>
            <a:r>
              <a:rPr lang="en-US" dirty="0"/>
              <a:t>Veronika Bailey </a:t>
            </a:r>
          </a:p>
          <a:p>
            <a:pPr>
              <a:buClr>
                <a:srgbClr val="FFFFFF"/>
              </a:buClr>
            </a:pPr>
            <a:r>
              <a:rPr lang="en-US" dirty="0"/>
              <a:t>Tyrel Stokes</a:t>
            </a:r>
          </a:p>
          <a:p>
            <a:pPr>
              <a:buClr>
                <a:srgbClr val="FFFFFF"/>
              </a:buClr>
            </a:pP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5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FD1F-66D0-E05B-656C-0D699A39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Thank you!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D9A0F-6451-B02D-FE57-9693AE106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Questions?</a:t>
            </a:r>
          </a:p>
          <a:p>
            <a:pPr>
              <a:buClr>
                <a:srgbClr val="FFFFFF"/>
              </a:buClr>
            </a:pPr>
            <a:r>
              <a:rPr lang="en-US" sz="2600" dirty="0"/>
              <a:t>Link to example </a:t>
            </a:r>
            <a:r>
              <a:rPr lang="en-US" sz="2600" dirty="0" err="1"/>
              <a:t>slurm</a:t>
            </a:r>
            <a:r>
              <a:rPr lang="en-US" sz="2600" dirty="0"/>
              <a:t> code and R functions</a:t>
            </a:r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https://github.com/SL-itw/osrm-slurm</a:t>
            </a:r>
          </a:p>
        </p:txBody>
      </p:sp>
      <p:pic>
        <p:nvPicPr>
          <p:cNvPr id="5" name="Picture 4" descr="NYU GROSSMAN SCHOOL OF MEDICINE CELEBRATES 181ST GRADUATION CEREMONY WITH  NEW YORK CITY MAYOR ERIC ADAMS PROVIDING KEYNOTE">
            <a:extLst>
              <a:ext uri="{FF2B5EF4-FFF2-40B4-BE49-F238E27FC236}">
                <a16:creationId xmlns:a16="http://schemas.microsoft.com/office/drawing/2014/main" id="{BE21731A-8108-4209-52A4-054217E4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69" y="3349"/>
            <a:ext cx="1548694" cy="5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62221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1114</Words>
  <Application>Microsoft Macintosh PowerPoint</Application>
  <PresentationFormat>Widescreen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Avenir Next LT Pro</vt:lpstr>
      <vt:lpstr>Courier New</vt:lpstr>
      <vt:lpstr>Courier New,monospace</vt:lpstr>
      <vt:lpstr>Posterama</vt:lpstr>
      <vt:lpstr>SineVTI</vt:lpstr>
      <vt:lpstr>An internal solution for calculating proximity-based metrics when using PPI</vt:lpstr>
      <vt:lpstr>Overview</vt:lpstr>
      <vt:lpstr>Background</vt:lpstr>
      <vt:lpstr>Background Continued</vt:lpstr>
      <vt:lpstr>Objective</vt:lpstr>
      <vt:lpstr>Problem</vt:lpstr>
      <vt:lpstr>Open Street Routing Machine</vt:lpstr>
      <vt:lpstr>OSRM service and R package</vt:lpstr>
      <vt:lpstr>OSRM R package (there is support)</vt:lpstr>
      <vt:lpstr>Proximity Calculation Protocol  when using HPC</vt:lpstr>
      <vt:lpstr>Slurm Code</vt:lpstr>
      <vt:lpstr>Slurm Code</vt:lpstr>
      <vt:lpstr>Slurm Code</vt:lpstr>
      <vt:lpstr>R code</vt:lpstr>
      <vt:lpstr>R code – user defined functions</vt:lpstr>
      <vt:lpstr>R code – user defined functions</vt:lpstr>
      <vt:lpstr>R Code – user defined functions</vt:lpstr>
      <vt:lpstr>R Code – user defined functions</vt:lpstr>
      <vt:lpstr>Computation challenges</vt:lpstr>
      <vt:lpstr>Future directions</vt:lpstr>
      <vt:lpstr>Acknowledgements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Lawrence, Steven</cp:lastModifiedBy>
  <cp:revision>1075</cp:revision>
  <dcterms:created xsi:type="dcterms:W3CDTF">2013-07-15T20:26:40Z</dcterms:created>
  <dcterms:modified xsi:type="dcterms:W3CDTF">2026-04-01T04:27:55Z</dcterms:modified>
</cp:coreProperties>
</file>